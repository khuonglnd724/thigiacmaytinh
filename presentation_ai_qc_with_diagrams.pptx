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Inter"/>
              </a:defRPr>
            </a:pPr>
            <a:r>
              <a:t>HỆ THỐNG TỰ ĐỘNG KIỂM TRA CHẤT LƯỢNG</a:t>
            </a:r>
            <a:br/>
            <a:r>
              <a:t>SẢN PHẨM BẰNG THỊ GIÁC MÁY TÌNH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06B6D4"/>
                </a:solidFill>
                <a:latin typeface="Inter"/>
              </a:defRPr>
            </a:pPr>
            <a:r>
              <a:t>Ứng dụng YOLO11-seg, ResNet18 Classifier &amp; Động cơ Hỏi đáp VQA đa ngôn ngữ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Báo cáo Đồ án tốt nghiệp / Nghiên cứu khoa học chuyên ngành Thị giác Máy tính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1. Đặt Vấn Đề &amp; Mục Tiêu Dự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THỰC TRẠNG &amp; THÁCH THỨC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Kiểm tra chất lượng (QC) thủ công bằng mắt dễ gây sai sót do sự mệt mỏi của con người.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Thiếu số liệu định lượng về kích thước lỗi, diện tích phủ của lỗi và vị trí lỗi cụ thể trên sản phẩm.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Tốc độ kiểm định chậm, gây tắc nghẽn dây chuyền sản xuất hàng loạt.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Khó lưu trữ lịch sử để cải tiến quy trình QC.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Inter"/>
              </a:defRPr>
            </a:pPr>
            <a:r>
              <a:t>MỤC TIÊU CỦA GIẢI PHÁP AI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Tự động hóa hoàn toàn quy trình phát hiện và khoanh vùng lỗi bề mặt thời gian thực (Real-time).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Trích xuất số liệu hình học chính xác diện tích, phân vùng lưới 9 khu vực và tính điểm nghiêm trọng.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Xây dựng Dashboard trực quan hóa và bộ giả lập Conveyor Live cho sản xuất thực tế.</a:t>
            </a:r>
          </a:p>
          <a:p>
            <a:pPr>
              <a:spcBef>
                <a:spcPts val="1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• Tích hợp công nghệ Chatbot VQA hỗ trợ cả tiếng Anh lẫn tiếng Việt giúp tương tác dễ dàng với hệ thống.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2. Kiến Trúc Luồng Xử Lý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64592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💻 Client</a:t>
            </a:r>
            <a:br/>
            <a:r>
              <a:t>(HTML/JS)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2514600"/>
            <a:ext cx="54864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2011680"/>
            <a:ext cx="164592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⚡ FastAPI</a:t>
            </a:r>
            <a:br/>
            <a:r>
              <a:t>Backend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63440" y="2514600"/>
            <a:ext cx="54864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7800" y="2011680"/>
            <a:ext cx="1645920" cy="12801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🔮 Model 1</a:t>
            </a:r>
            <a:br/>
            <a:r>
              <a:t>YOLO11-seg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49440" y="2514600"/>
            <a:ext cx="54864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2011680"/>
            <a:ext cx="1645920" cy="128016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🔍 Model 2</a:t>
            </a:r>
            <a:br/>
            <a:r>
              <a:t>ResNet18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35440" y="2514600"/>
            <a:ext cx="54864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2011680"/>
            <a:ext cx="1645920" cy="12801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📊 Logic</a:t>
            </a:r>
            <a:br/>
            <a:r>
              <a:t>QC &amp; VQA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1081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Inter"/>
              </a:defRPr>
            </a:pPr>
            <a:r>
              <a:t>CHI TIẾT LUỒNG TRUYỀN DỮ LIỆU: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Inter"/>
              </a:defRPr>
            </a:pPr>
            <a:r>
              <a:t>Bước 1: Client tải lên ảnh hoặc video từ giao diện Dashboard thông minh.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Inter"/>
              </a:defRPr>
            </a:pPr>
            <a:r>
              <a:t>Bước 2: FastAPI tiếp nhận yêu cầu, định tuyến file và chuyển tiếp sang module AI xử lý.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Inter"/>
              </a:defRPr>
            </a:pPr>
            <a:r>
              <a:t>Bước 3: Model YOLO11-seg xác định vùng lỗi và xuất ra mặt nạ đa giác (Segmentation Mask).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Inter"/>
              </a:defRPr>
            </a:pPr>
            <a:r>
              <a:t>Bước 4: Cắt vùng ảnh lỗi (ROI), đưa sang ResNet18 Classifier để nhận diện nhãn lỗi chi tiết (Dent, Scratch,...).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Inter"/>
              </a:defRPr>
            </a:pPr>
            <a:r>
              <a:t>Bước 5: Trích xuất diện tích toán học, phân lưới vị trí, tính điểm nghiêm trọng và tạo chatbot VQA phản hồi.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3. Tập Dữ Liệu Huấn Luyện MVTec-AD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TẬP DỮ LIỆU &amp; TIỀN XỬ LÝ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MVTec Anomaly Detection (MVTec-AD) là bộ dữ liệu chuẩn mực để đánh giá các thuật toán kiểm tra lỗi bề mặt công nghiệp.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Bao gồm các nhóm sản phẩm cố định, chia làm 2 tập: Normal (Huấn luyện) và Anomaly (Xác thực/Kiểm thử).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Kích thước ảnh được resize chuẩn hóa về 640x640 pixel.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Mặt nạ nhãn lỗi được convert đồng bộ sang định dạng YOLO Segment phục vụ quá trình huấn luyện.</a:t>
            </a:r>
          </a:p>
        </p:txBody>
      </p:sp>
      <p:pic>
        <p:nvPicPr>
          <p:cNvPr id="5" name="Picture 4" descr="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4. Kỹ Thuật Tăng Cường Dữ Liệu (Augmentation)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🔄 XOAY &amp; LẬT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Lập ảnh ngẫu nhiên theo chiều dọc/ngang (Horizontal &amp; Vertical Flip) và xoay tự do.</a:t>
            </a:r>
            <a:br/>
            <a:br/>
            <a:r>
              <a:t>Giúp mô hình nhận diện khuyết tật không phụ thuộc vào góc quay của sản phẩm trên băng tải.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☀️ ĐỘ SÁNG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Thay đổi ngẫu nhiên độ sáng, độ tương phản (Brightness/Contrast).</a:t>
            </a:r>
            <a:br/>
            <a:br/>
            <a:r>
              <a:t>Giúp mô hình ổn định ngay cả khi ánh sáng nhà xưởng thay đổi đột ngột giữa ca ngày và đêm.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🔊 NHIỄU GAUSS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Thêm nhiễu Gaussian ngẫu nhiên ở các cấp độ hạt mịn khác nhau.</a:t>
            </a:r>
            <a:br/>
            <a:br/>
            <a:r>
              <a:t>Mô phỏng nhiễu phần cứng từ camera công nghiệp trong môi trường rung động của nhà máy.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828800"/>
            <a:ext cx="2587752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B6D4"/>
                </a:solidFill>
                <a:latin typeface="Inter"/>
              </a:defRPr>
            </a:pPr>
            <a:r>
              <a:t>🔎 THU PHÓNG</a:t>
            </a:r>
          </a:p>
          <a:p>
            <a:pPr algn="l">
              <a:defRPr sz="1300">
                <a:solidFill>
                  <a:srgbClr val="E2E8F0"/>
                </a:solidFill>
                <a:latin typeface="Inter"/>
              </a:defRPr>
            </a:pPr>
            <a:r>
              <a:t>Cắt ngẫu nhiên và thu phóng (Random Crop &amp; Scale).</a:t>
            </a:r>
            <a:br/>
            <a:br/>
            <a:r>
              <a:t>Tập trung huấn luyện mô hình nhận diện lỗi ở nhiều tỷ lệ khoảng cách camera xa gần khác nhau.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5. Phân Vùng Lỗi Bề Mặt Bằng YOLO11-seg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KẾT QUẢ ĐÀO TẠO MÔ HÌNH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YOLO11-seg làm mô hình phát hiện và tạo mặt nạ phân vùng lỗi (mask) chính xác tới cấp độ pixel.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Quá trình huấn luyện tối ưu hóa hai chỉ số chính: mAP (Mean Average Precision) và IoU (Intersection over Union).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Khống chế tỷ lệ bỏ sót khuyết tật nghiêm trọng (False Negative) dưới mức an toàn 1-2%.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Trọng số huấn luyện tốt nhất được xuất thành best.pt để làm lõi suy luận cho API.</a:t>
            </a:r>
          </a:p>
        </p:txBody>
      </p:sp>
      <p:pic>
        <p:nvPicPr>
          <p:cNvPr id="5" name="Picture 4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6. Phân Loại Loại Lỗi Bằng ResNet18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NHẬN DIỆN CHI TIẾT TỪNG NHÓM LỖI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Mô hình ResNet18 Classifier chuyên biệt chạy nối tiếp sau khi YOLO11-seg phát hiện vùng khuyết tật.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Cắt vùng ảnh chứa lỗi (ROI), mở rộng 15% biên để tránh mất đặc trưng góc cạnh, đưa vào phân loại chi tiết.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Ứng dụng file cấu hình JSON ràng buộc logic: chỉ cho phép phân loại lỗi thuộc danh mục vật lý của nhóm sản phẩm cha.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Ví dụ minh họa bên phải hiển thị ảnh dự đoán kiểm định (val_batch0_pred) thực tế của mô hình.</a:t>
            </a:r>
          </a:p>
        </p:txBody>
      </p:sp>
      <p:pic>
        <p:nvPicPr>
          <p:cNvPr id="5" name="Picture 4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7. Thuật Toán Trích Xuất &amp; Quyết Định QC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46E5"/>
                </a:solidFill>
                <a:latin typeface="Inter"/>
              </a:defRPr>
            </a:pPr>
            <a:r>
              <a:t>PHÂN BỔ TRỌNG SỐ SEVERITY (0-100)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  <a:latin typeface="Inter"/>
              </a:defRPr>
            </a:pPr>
            <a:r>
              <a:t>Diện tích lỗi (Shoelace) (40%)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60320"/>
            <a:ext cx="45720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1828800" cy="182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  <a:latin typeface="Inter"/>
              </a:defRPr>
            </a:pPr>
            <a:r>
              <a:t>Vị trí lỗi (Lưới 9 vùng) (30%)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474720"/>
            <a:ext cx="45720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74720"/>
            <a:ext cx="137160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  <a:latin typeface="Inter"/>
              </a:defRPr>
            </a:pPr>
            <a:r>
              <a:t>Độ tin cậy mô hình AI (30%)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89120"/>
            <a:ext cx="45720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389120"/>
            <a:ext cx="13716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Courier New"/>
              </a:defRPr>
            </a:pPr>
            <a:r>
              <a:t>Công thức Severity Score:</a:t>
            </a:r>
            <a:br/>
            <a:r>
              <a:t>Severity = (Area * 0.4) + (Pos * 0.3) + (Conf * 0.3)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Inter"/>
              </a:defRPr>
            </a:pPr>
            <a:r>
              <a:t>HỆ THỐNG QUYẾT ĐỊNH QC CHUẨN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5303520" cy="10972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Inter"/>
              </a:defRPr>
            </a:pPr>
            <a:r>
              <a:t>PASS (ĐẠT)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Inter"/>
              </a:defRPr>
            </a:pPr>
            <a:r>
              <a:t>Sản phẩm không có lỗi hoặc toàn bộ lỗi được phát hiện chỉ có mức độ nghiêm trọng thấp (Severity &lt; 25).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303520" cy="10972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Inter"/>
              </a:defRPr>
            </a:pPr>
            <a:r>
              <a:t>FLAG (CẢNH BÁO)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Inter"/>
              </a:defRPr>
            </a:pPr>
            <a:r>
              <a:t>Phát hiện có từ 1 đến 2 lỗi ở mức độ trung bình (Severity: 25 - 50) ➔ Chuyển qua luồng kiểm định lại thủ công.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5303520" cy="10972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  <a:latin typeface="Inter"/>
              </a:defRPr>
            </a:pPr>
            <a:r>
              <a:t>REJECT (LỖI)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Inter"/>
              </a:defRPr>
            </a:pPr>
            <a:r>
              <a:t>Có từ 3 lỗi Medium trở lên, hoặc xuất hiện bất kỳ lỗi nào ở mức độ cao (Severity &gt; 50) ➔ Huỷ sản phẩm.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8. Động Cơ Hỏi Đáp Ngữ Cảnh Đa Ngôn Ngữ (VQA)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Inter"/>
              </a:defRPr>
            </a:pPr>
            <a:r>
              <a:t>VQA CHATBOT ĐA NGÔN NGỮ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Người vận hành tương tác trực tiếp bằng câu hỏi ngôn ngữ tự nhiên để tra cứu thông tin lỗi nhanh chóng.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Bộ quét ngôn ngữ tự động phát hiện câu hỏi tiếng Việt dựa trên sự xuất hiện của các từ khóa đặc trưng tiếng Việt.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Phản hồi tiếng Việt động trực tiếp từ kết quả phân tích chất lượng của sản phẩm (loại lỗi, vị trí, kết luận, khuyến cáo).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• Có lưu trữ context cục bộ tại frontend để tự động chuyển tiếp dữ liệu phân tích sang VQA chat bubble.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Inter"/>
              </a:defRPr>
            </a:pPr>
            <a:r>
              <a:t>QUY TRÌNH PHÂN CẤP ƯU TIÊN 3 TẦNG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94560"/>
            <a:ext cx="5303520" cy="1005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TẦNG 1: CONTEXT-AWARE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Inter"/>
              </a:defRPr>
            </a:pPr>
            <a:r>
              <a:t>Trích xuất nhanh số liệu từ báo cáo QC. Phản hồi tiếng Việt/Anh tức thì.</a:t>
            </a:r>
          </a:p>
        </p:txBody>
      </p:sp>
      <p:sp>
        <p:nvSpPr>
          <p:cNvPr id="7" name="Down Arrow 6"/>
          <p:cNvSpPr/>
          <p:nvPr/>
        </p:nvSpPr>
        <p:spPr>
          <a:xfrm>
            <a:off x="8686800" y="3246120"/>
            <a:ext cx="365760" cy="27432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30352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TẦNG 2: DEEP LEARNING (ViLT)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Inter"/>
              </a:defRPr>
            </a:pPr>
            <a:r>
              <a:t>Gọi model dandelin/vilt-b32 để phân tích trực quan tổng thể.</a:t>
            </a:r>
          </a:p>
        </p:txBody>
      </p:sp>
      <p:sp>
        <p:nvSpPr>
          <p:cNvPr id="9" name="Down Arrow 8"/>
          <p:cNvSpPr/>
          <p:nvPr/>
        </p:nvSpPr>
        <p:spPr>
          <a:xfrm>
            <a:off x="8686800" y="4617720"/>
            <a:ext cx="365760" cy="27432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4937760"/>
            <a:ext cx="530352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TẦNG 3: KEYWORD FALLBACK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Inter"/>
              </a:defRPr>
            </a:pPr>
            <a:r>
              <a:t>Đối khớp từ khóa thô khi mất kết nối mạng hoặc không có ảnh.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Inter"/>
              </a:defRPr>
            </a:pPr>
            <a:r>
              <a:t>KẾT QUẢ ĐẠT ĐƯỢC</a:t>
            </a:r>
          </a:p>
          <a:p>
            <a:pPr>
              <a:spcBef>
                <a:spcPts val="1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• Xây dựng thành công hệ thống tích hợp mượt mà giữa AI Vision và Dashboard quản lý.</a:t>
            </a:r>
          </a:p>
          <a:p>
            <a:pPr>
              <a:spcBef>
                <a:spcPts val="1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• Tỉ lệ bỏ sót lỗi nghiêm trọng rất thấp (&lt; 1-2%), đáp ứng yêu cầu chất lượng công nghiệp.</a:t>
            </a:r>
          </a:p>
          <a:p>
            <a:pPr>
              <a:spcBef>
                <a:spcPts val="1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• Dashboard trực quan hóa cao cấp, thao tác đơn giản và hỗ trợ VQA phản hồi tiếng Việt cực nhạy.</a:t>
            </a:r>
          </a:p>
          <a:p>
            <a:pPr>
              <a:spcBef>
                <a:spcPts val="3000"/>
              </a:spcBef>
              <a:defRPr sz="2400" b="1">
                <a:solidFill>
                  <a:srgbClr val="FFFFFF"/>
                </a:solidFill>
                <a:latin typeface="Inter"/>
              </a:defRPr>
            </a:pPr>
            <a:r>
              <a:t>HƯỚNG PHÁT TRIỂN TIẾP THEO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• Tối ưu hóa tốc độ suy luận bằng TensorRT để chạy ổn định trên thiết bị nhúng Nvidia Jetson cạnh băng chuyền.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• Tích hợp kết nối trực tiếp với các thiết bị vật lý công nghiệp PLC, cánh tay robot để tự động gạt sản phẩm lỗi.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