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Inter"/>
              </a:defRPr>
            </a:pPr>
            <a:r>
              <a:t>HỆ THỐNG TỰ ĐỘNG KIỂM TRA CHẤT LƯỢNG</a:t>
            </a:r>
            <a:br/>
            <a:r>
              <a:t>SẢN PHẨM BẰNG THỊ GIÁC MÁY TÌNH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06B6D4"/>
                </a:solidFill>
                <a:latin typeface="Inter"/>
              </a:defRPr>
            </a:pPr>
            <a:r>
              <a:t>Ứng dụng YOLO11-seg, ResNet18 Classifier &amp; Động cơ Hỏi đáp VQA đa ngôn ngữ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Inter"/>
              </a:defRPr>
            </a:pPr>
            <a:r>
              <a:t>Báo cáo Đồ án tốt nghiệp / Nghiên cứu khoa học chuyên ngành Thị giác Máy tính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1. Đặt Vấn Đề &amp; Mục Tiêu Dự 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Inter"/>
              </a:defRPr>
            </a:pPr>
            <a:r>
              <a:t>THỰC TRẠNG &amp; THÁCH THỨC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Kiểm tra chất lượng (QC) thủ công bằng mắt dễ gây sai sót do sự mệt mỏi của người vận hành.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Thiếu báo cáo định lượng về kích thước lỗi, diện tích phủ của lỗi và vị trí lỗi cụ thể trên sản phẩm.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Tốc độ kiểm định chậm, gây tắc nghẽn dây chuyền sản xuất hàng loạt.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Khó lưu trữ lịch sử để cải tiến quy trình QC.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Inter"/>
              </a:defRPr>
            </a:pPr>
            <a:r>
              <a:t>MỤC TIÊU CỦA GIẢI PHÁP AI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Tự động hóa hoàn toàn quy trình phát hiện và khoanh vùng lỗi bề mặt thời gian thực (Real-time).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Trích xuất số liệu hình học chính xác diện tích, phân vùng lưới 9 khu vực và tính điểm nghiêm trọng.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Xây dựng Dashboard trực quan hóa và bộ giả lập Conveyor Live cho sản xuất thực tế.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Tích hợp công nghệ Chatbot VQA hỗ trợ cả tiếng Anh lẫn tiếng Việt giúp tương tác dễ dàng với hệ thống.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2. Kiến Trúc Hệ Thống Tổng Thể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29184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💻 CLIENT (GIAO DIỆN)</a:t>
            </a:r>
          </a:p>
          <a:p>
            <a:pPr algn="l">
              <a:spcBef>
                <a:spcPts val="800"/>
              </a:spcBef>
              <a:defRPr sz="1300">
                <a:solidFill>
                  <a:srgbClr val="E2E8F0"/>
                </a:solidFill>
                <a:latin typeface="Inter"/>
              </a:defRPr>
            </a:pPr>
            <a:r>
              <a:t>- Giao diện HTML/CSS/JS thuần hiện đại</a:t>
            </a:r>
          </a:p>
          <a:p>
            <a:pPr algn="l">
              <a:spcBef>
                <a:spcPts val="800"/>
              </a:spcBef>
              <a:defRPr sz="1300">
                <a:solidFill>
                  <a:srgbClr val="E2E8F0"/>
                </a:solidFill>
                <a:latin typeface="Inter"/>
              </a:defRPr>
            </a:pPr>
            <a:r>
              <a:t>- Công cụ Upload ảnh phân tích QC trực quan</a:t>
            </a:r>
          </a:p>
          <a:p>
            <a:pPr algn="l">
              <a:spcBef>
                <a:spcPts val="800"/>
              </a:spcBef>
              <a:defRPr sz="1300">
                <a:solidFill>
                  <a:srgbClr val="E2E8F0"/>
                </a:solidFill>
                <a:latin typeface="Inter"/>
              </a:defRPr>
            </a:pPr>
            <a:r>
              <a:t>- Màn hình mô phỏng băng chuyền động Live</a:t>
            </a:r>
          </a:p>
          <a:p>
            <a:pPr algn="l">
              <a:spcBef>
                <a:spcPts val="800"/>
              </a:spcBef>
              <a:defRPr sz="1300">
                <a:solidFill>
                  <a:srgbClr val="E2E8F0"/>
                </a:solidFill>
                <a:latin typeface="Inter"/>
              </a:defRPr>
            </a:pPr>
            <a:r>
              <a:t>- Khung chat VQA trò chuyện trực tiếp với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⚡ FASTAPI BACKEND</a:t>
            </a:r>
          </a:p>
          <a:p>
            <a:pPr algn="l">
              <a:spcBef>
                <a:spcPts val="800"/>
              </a:spcBef>
              <a:defRPr sz="1300">
                <a:solidFill>
                  <a:srgbClr val="E2E8F0"/>
                </a:solidFill>
                <a:latin typeface="Inter"/>
              </a:defRPr>
            </a:pPr>
            <a:r>
              <a:t>- API Server xây dựng trên FastAPI siêu tốc</a:t>
            </a:r>
          </a:p>
          <a:p>
            <a:pPr algn="l">
              <a:spcBef>
                <a:spcPts val="800"/>
              </a:spcBef>
              <a:defRPr sz="1300">
                <a:solidFill>
                  <a:srgbClr val="E2E8F0"/>
                </a:solidFill>
                <a:latin typeface="Inter"/>
              </a:defRPr>
            </a:pPr>
            <a:r>
              <a:t>- Xử lý kết nối, định tuyến yêu cầu HTTP</a:t>
            </a:r>
          </a:p>
          <a:p>
            <a:pPr algn="l">
              <a:spcBef>
                <a:spcPts val="800"/>
              </a:spcBef>
              <a:defRPr sz="1300">
                <a:solidFill>
                  <a:srgbClr val="E2E8F0"/>
                </a:solidFill>
                <a:latin typeface="Inter"/>
              </a:defRPr>
            </a:pPr>
            <a:r>
              <a:t>- Lịch sử kiểm định lưu vào cơ sở dữ liệu SQLite</a:t>
            </a:r>
          </a:p>
          <a:p>
            <a:pPr algn="l">
              <a:spcBef>
                <a:spcPts val="800"/>
              </a:spcBef>
              <a:defRPr sz="1300">
                <a:solidFill>
                  <a:srgbClr val="E2E8F0"/>
                </a:solidFill>
                <a:latin typeface="Inter"/>
              </a:defRPr>
            </a:pPr>
            <a:r>
              <a:t>- Giao diện RESTful tích hợp thuận tiện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828800"/>
            <a:ext cx="3383280" cy="411480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🔮 PIPELINE AI &amp; LOGIC</a:t>
            </a:r>
          </a:p>
          <a:p>
            <a:pPr algn="l">
              <a:spcBef>
                <a:spcPts val="800"/>
              </a:spcBef>
              <a:defRPr sz="1300">
                <a:solidFill>
                  <a:srgbClr val="E2E8F0"/>
                </a:solidFill>
                <a:latin typeface="Inter"/>
              </a:defRPr>
            </a:pPr>
            <a:r>
              <a:t>- YOLO11-seg: Phát hiện và phủ mặt nạ lỗi</a:t>
            </a:r>
          </a:p>
          <a:p>
            <a:pPr algn="l">
              <a:spcBef>
                <a:spcPts val="800"/>
              </a:spcBef>
              <a:defRPr sz="1300">
                <a:solidFill>
                  <a:srgbClr val="E2E8F0"/>
                </a:solidFill>
                <a:latin typeface="Inter"/>
              </a:defRPr>
            </a:pPr>
            <a:r>
              <a:t>- ResNet18: Phân loại loại lỗi chi tiết (ROI)</a:t>
            </a:r>
          </a:p>
          <a:p>
            <a:pPr algn="l">
              <a:spcBef>
                <a:spcPts val="800"/>
              </a:spcBef>
              <a:defRPr sz="1300">
                <a:solidFill>
                  <a:srgbClr val="E2E8F0"/>
                </a:solidFill>
                <a:latin typeface="Inter"/>
              </a:defRPr>
            </a:pPr>
            <a:r>
              <a:t>- Trích xuất đặc trưng diện tích, lưới vị trí</a:t>
            </a:r>
          </a:p>
          <a:p>
            <a:pPr algn="l">
              <a:spcBef>
                <a:spcPts val="800"/>
              </a:spcBef>
              <a:defRPr sz="1300">
                <a:solidFill>
                  <a:srgbClr val="E2E8F0"/>
                </a:solidFill>
                <a:latin typeface="Inter"/>
              </a:defRPr>
            </a:pPr>
            <a:r>
              <a:t>- Hệ quyết định QC ĐẠT/CẢNH BÁO/KHÔNG ĐẠT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3. Tập Dữ Liệu MVTec-AD &amp; Tiền Xử Lý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Inter"/>
              </a:defRPr>
            </a:pPr>
            <a:r>
              <a:t>TẬP DỮ LIỆU HUẤN LUYỆN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Sử dụng bộ dữ liệu chuẩn công nghiệp MVTec-AD.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Mô phỏng các bề mặt sản phẩm kim loại, vỏ chai, dây cáp, gỗ...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Phân tách rõ hai nhóm: Normal (Bình thường) và Anomaly (Có khuyết tật).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Gán nhãn đa dạng loại lỗi: Trầy xước (Scratch), nứt (Crack), móp (Dent), thiếu linh kiện (Missing part).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Inter"/>
              </a:defRPr>
            </a:pPr>
            <a:r>
              <a:t>TIỀN XỬ LÝ HÌNH ẢNH (PREPROCESSING)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Thay đổi độ phân giải ảnh về kích thước chuẩn 640x640 pixel phục vụ model.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Chuẩn hóa giá trị pixel về khoảng [0-1] để tăng tốc hội tụ.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Làm sạch dữ liệu, loại bỏ các khung hình mờ, nhiễu kỹ thuật lớn.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Chuyển đổi mặt nạ Segmentation Mask sang định dạng nhãn chuẩn YOLO.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4. Tăng Cường Dữ Liệu (Augmentation)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87752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B6D4"/>
                </a:solidFill>
                <a:latin typeface="Inter"/>
              </a:defRPr>
            </a:pPr>
            <a:r>
              <a:t>🔄 XOAY &amp; LẬT</a:t>
            </a:r>
          </a:p>
          <a:p>
            <a:pPr algn="l">
              <a:defRPr sz="1300">
                <a:solidFill>
                  <a:srgbClr val="E2E8F0"/>
                </a:solidFill>
                <a:latin typeface="Inter"/>
              </a:defRPr>
            </a:pPr>
            <a:r>
              <a:t>Lật ảnh ngẫu nhiên theo chiều dọc/ngang (Horizontal &amp; Vertical Flip) và xoay tự do.</a:t>
            </a:r>
            <a:br/>
            <a:br/>
            <a:r>
              <a:t>Giúp mô hình nhận diện khuyết tật không phụ thuộc vào góc quay của sản phẩm trên băng tải.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87752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B6D4"/>
                </a:solidFill>
                <a:latin typeface="Inter"/>
              </a:defRPr>
            </a:pPr>
            <a:r>
              <a:t>☀️ ĐỘ SÁNG</a:t>
            </a:r>
          </a:p>
          <a:p>
            <a:pPr algn="l">
              <a:defRPr sz="1300">
                <a:solidFill>
                  <a:srgbClr val="E2E8F0"/>
                </a:solidFill>
                <a:latin typeface="Inter"/>
              </a:defRPr>
            </a:pPr>
            <a:r>
              <a:t>Thay đổi ngẫu nhiên độ sáng, độ tương phản (Brightness/Contrast).</a:t>
            </a:r>
            <a:br/>
            <a:br/>
            <a:r>
              <a:t>Giúp mô hình ổn định ngay cả khi ánh sáng nhà xưởng thay đổi đột ngột giữa ca ngày và đêm.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2587752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B6D4"/>
                </a:solidFill>
                <a:latin typeface="Inter"/>
              </a:defRPr>
            </a:pPr>
            <a:r>
              <a:t>🔊 NHIỄU GAUSS</a:t>
            </a:r>
          </a:p>
          <a:p>
            <a:pPr algn="l">
              <a:defRPr sz="1300">
                <a:solidFill>
                  <a:srgbClr val="E2E8F0"/>
                </a:solidFill>
                <a:latin typeface="Inter"/>
              </a:defRPr>
            </a:pPr>
            <a:r>
              <a:t>Thêm nhiễu Gaussian ngẫu nhiên ở các cấp độ hạt mịn khác nhau.</a:t>
            </a:r>
            <a:br/>
            <a:br/>
            <a:r>
              <a:t>Mô phỏng nhiễu phần cứng từ camera công nghiệp trong môi trường rung động của nhà máy.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828800"/>
            <a:ext cx="2587752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B6D4"/>
                </a:solidFill>
                <a:latin typeface="Inter"/>
              </a:defRPr>
            </a:pPr>
            <a:r>
              <a:t>🔎 THU PHÓNG</a:t>
            </a:r>
          </a:p>
          <a:p>
            <a:pPr algn="l">
              <a:defRPr sz="1300">
                <a:solidFill>
                  <a:srgbClr val="E2E8F0"/>
                </a:solidFill>
                <a:latin typeface="Inter"/>
              </a:defRPr>
            </a:pPr>
            <a:r>
              <a:t>Cắt ngẫu nhiên và thu phóng (Random Crop &amp; Scale).</a:t>
            </a:r>
            <a:br/>
            <a:br/>
            <a:r>
              <a:t>Tập trung huấn luyện mô hình nhận diện lỗi ở nhiều tỷ lệ khoảng cách camera xa gần khác nhau.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5. Phát Hiện &amp; Phân Vùng Vùng Lỗi (YOLO11-seg)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Inter"/>
              </a:defRPr>
            </a:pPr>
            <a:r>
              <a:t>KIẾN TRÚC MÔ HÌNH HỌC SÂU 1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Sử dụng YOLO11-seg làm mô hình học sâu chính cho tác vụ đầu chuỗi.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Thực hiện đồng thời hai tác vụ: Phát hiện vật thể chứa lỗi và Phân vùng lỗi (Instance Segmentation).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Đầu ra (Output) cung cấp Bounding Box (khung bao lỗi) và đường đa giác Segmentation Mask bao lỗi chi tiết.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Trọng số tối ưu hóa được xuất ra file best.pt để tích hợp chạy thực tế.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Inter"/>
              </a:defRPr>
            </a:pPr>
            <a:r>
              <a:t>CHỈ SỐ THEO DÕI VÀ ĐÁNH GIÁ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mAP (Mean Average Precision): Đo lường độ chính xác phát hiện trung bình.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IoU (Intersection over Union) &amp; Dice Score: Đo lường chất lượng và sự tương đồng của phân vùng mặt nạ lỗi so với nhãn gốc.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Kiểm soát nghiêm ngặt tỷ lệ bỏ sót lỗi nghiêm trọng (False Negative) bắt buộc dưới 1-2%.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Hỗ trợ chế độ chạy dự phòng yolo11n-seg.pt (Fallback) để đảm bảo hệ thống không bao giờ dừng hoạt động.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6. Phân Loại Loại Lỗi Chi Tiết (ResNet18 Classifier)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Inter"/>
              </a:defRPr>
            </a:pPr>
            <a:r>
              <a:t>MÔ HÌNH PHÂN LOẠI TUẦN TỰ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Sử dụng mô hình ResNet18 Classifier chạy song hành tuần tự sau YOLO11-seg.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Nhận diện chính xác tên loại lỗi (Scratch, Dent, Crack...) thay vì chỉ gom nhóm chung là 'lỗi'.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Trích xuất vùng ảnh lỗi (ROI) từ bounding box của YOLO, mở rộng thêm 15% biên để thu thập ngữ cảnh xung quanh.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Học sâu phân loại trên tập phân loại lỗi công nghiệp lên tới ~41 lớp lỗi.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Inter"/>
              </a:defRPr>
            </a:pPr>
            <a:r>
              <a:t>CƠ CHẾ RÀNG BUỘC PHÂN LOẠI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Tích hợp tệp cấu hình JSON định hình mối quan hệ giữa nhóm sản phẩm và các loại lỗi được phép tồn tại.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Lọc kết quả dự đoán của ResNet18, loại bỏ các lỗi vô lý không thể xảy ra đối với cấu trúc vật lý sản phẩm đó.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Cung cấp danh sách dự đoán Top-3 kèm độ tin cậy tương ứng.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Thiết lập cơ chế Fallback Heuristic tự động chuyển sang phân loại dựa trên luật mềm nếu không thể khởi tạo mô hình.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7. Trích Xuất Đặc Trưng Hình Học &amp; Quyết Định QC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Inter"/>
              </a:defRPr>
            </a:pPr>
            <a:r>
              <a:t>TRÍCH XUẤT ĐẶC TRƯNG HÌNH HỌC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Diện tích (Area): Tính toán diện tích vùng lỗi bằng công thức đa giác Shoelace trên tọa độ polygon của mask.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Vị trí (Position): Chia bề mặt sản phẩm thành lưới 9 khu vực (9-zone grid), xác định lỗi nằm ở vị trí nào.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Độ nghiêm trọng (Severity Score): Thang điểm 0-100 tính dựa trên tỉ lệ diện tích (40%) + vị trí lỗi tâm hay biên (30%) + độ tin cậy AI (30%).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Inter"/>
              </a:defRPr>
            </a:pPr>
            <a:r>
              <a:t>LUẬT RA QUYẾT ĐỊNH QC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ĐẠT (PASS): Sản phẩm sạch hoàn toàn hoặc các lỗi phát hiện chỉ có độ nghiêm trọng ở mức thấp (Low Severity &lt; 25).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CẢNH BÁO (FLAG): Phát hiện có từ 1 đến 2 lỗi ở mức độ trung bình (Medium Severity: 25-50) ➔ Chuyển qua luồng kiểm tra lại thủ công.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KHÔNG ĐẠT (REJECT): Có nhiều hơn 2 lỗi Medium hoặc tồn tại bất kỳ lỗi nào ở mức độ cao (High / Critical Severity &gt; 50) ➔ Hủy bỏ sản phẩm.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8. Động Cơ Hỏi Đáp Ngữ Cảnh Đa Ngôn Ngữ (VQA)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Inter"/>
              </a:defRPr>
            </a:pPr>
            <a:r>
              <a:t>CƠ CHẾ PHÂN CẤP ƯU TIÊN 3 TẦNG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Tầng 1 (Context-aware): Trích xuất thông tin trực tiếp từ báo cáo QC (tổng lỗi, mức độ nghiêm trọng, vị trí lỗi). Ưu tiên tốc độ xử lý nhanh nhất.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Tầng 2 (Deep Learning): Sử dụng mô hình Transformer ViLT trực tuyến để xử lý các câu hỏi trực quan tổng quát hơn ngoài phạm vi báo cáo QC.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Tầng 3 (Keyword Fallback): Bộ so khớp từ khóa dự phòng có sẵn tiếng Việt và tiếng Anh để đưa ra phản hồi logic, mượt mà.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Inter"/>
              </a:defRPr>
            </a:pPr>
            <a:r>
              <a:t>BẢN ĐỊA HÓA TIẾNG VIỆT ĐỘNG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Tự động quét và phát hiện ngôn ngữ câu hỏi dựa trên các từ khóa tiếng Việt.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Phản hồi trực quan bằng tiếng Việt cho 8 chủ đề chính: Có lỗi không, độ nghiêm trọng, vị trí, kết quả QC, số lượng lỗi, loại lỗi, khuyến cáo và báo cáo tóm tắt.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Hỗ trợ ghi nhớ context: Sử dụng biến toàn cục ở frontend để tự động chuyển tiếp dữ liệu phân tích sang VQA chat.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Inter"/>
              </a:defRPr>
            </a:pPr>
            <a:r>
              <a:t>KẾT QUẢ ĐẠT ĐƯỢC</a:t>
            </a:r>
          </a:p>
          <a:p>
            <a:pPr>
              <a:spcBef>
                <a:spcPts val="1600"/>
              </a:spcBef>
              <a:defRPr sz="1500">
                <a:solidFill>
                  <a:srgbClr val="E2E8F0"/>
                </a:solidFill>
                <a:latin typeface="Inter"/>
              </a:defRPr>
            </a:pPr>
            <a:r>
              <a:t>• Xây dựng thành công hệ thống tích hợp mượt mà giữa AI Vision và Dashboard quản lý.</a:t>
            </a:r>
          </a:p>
          <a:p>
            <a:pPr>
              <a:spcBef>
                <a:spcPts val="1600"/>
              </a:spcBef>
              <a:defRPr sz="1500">
                <a:solidFill>
                  <a:srgbClr val="E2E8F0"/>
                </a:solidFill>
                <a:latin typeface="Inter"/>
              </a:defRPr>
            </a:pPr>
            <a:r>
              <a:t>• Tỉ lệ bỏ sót lỗi nghiêm trọng rất thấp (&lt; 1-2%), đáp ứng yêu cầu chất lượng công nghiệp.</a:t>
            </a:r>
          </a:p>
          <a:p>
            <a:pPr>
              <a:spcBef>
                <a:spcPts val="1600"/>
              </a:spcBef>
              <a:defRPr sz="1500">
                <a:solidFill>
                  <a:srgbClr val="E2E8F0"/>
                </a:solidFill>
                <a:latin typeface="Inter"/>
              </a:defRPr>
            </a:pPr>
            <a:r>
              <a:t>• Dashboard trực quan hóa cao cấp, thao tác đơn giản và hỗ trợ VQA phản hồi cực nhạy.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HƯỚNG PHÁT TRIỂN TIẾP THEO</a:t>
            </a:r>
          </a:p>
          <a:p>
            <a:pPr>
              <a:spcBef>
                <a:spcPts val="1600"/>
              </a:spcBef>
              <a:defRPr sz="1500">
                <a:solidFill>
                  <a:srgbClr val="E2E8F0"/>
                </a:solidFill>
                <a:latin typeface="Inter"/>
              </a:defRPr>
            </a:pPr>
            <a:r>
              <a:t>• Tối ưu hóa tốc độ suy luận (Inference Speed) bằng TensorRT để chạy ổn định trên thiết bị nhúng (Nvidia Jetson) ở rìa băng chuyền.</a:t>
            </a:r>
          </a:p>
          <a:p>
            <a:pPr>
              <a:spcBef>
                <a:spcPts val="1600"/>
              </a:spcBef>
              <a:defRPr sz="1500">
                <a:solidFill>
                  <a:srgbClr val="E2E8F0"/>
                </a:solidFill>
                <a:latin typeface="Inter"/>
              </a:defRPr>
            </a:pPr>
            <a:r>
              <a:t>• Tích hợp kết nối trực tiếp với các thiết bị vật lý công nghiệp PLC, cánh tay robot để tự động gạt sản phẩm lỗi.</a:t>
            </a:r>
          </a:p>
          <a:p>
            <a:pPr>
              <a:spcBef>
                <a:spcPts val="1600"/>
              </a:spcBef>
              <a:defRPr sz="1500">
                <a:solidFill>
                  <a:srgbClr val="E2E8F0"/>
                </a:solidFill>
                <a:latin typeface="Inter"/>
              </a:defRPr>
            </a:pPr>
            <a:r>
              <a:t>• Huấn luyện mở rộng thêm các nhóm sản phẩm và khuyết tật bề mặt mới.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